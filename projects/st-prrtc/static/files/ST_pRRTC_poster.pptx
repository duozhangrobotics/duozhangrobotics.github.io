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34939d3e434135" /><Relationship Type="http://schemas.openxmlformats.org/officeDocument/2006/relationships/extended-properties" Target="/docProps/app.xml" Id="R9d8d1d1418a144dc" /><Relationship Type="http://schemas.openxmlformats.org/officeDocument/2006/relationships/officeDocument" Target="/ppt/presentation.xml" Id="R563dac7378d44d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9c02624ebb4c7c"/>
  </p:sldMasterIdLst>
  <p:notesMasterIdLst>
    <p:notesMasterId xmlns:r="http://schemas.openxmlformats.org/officeDocument/2006/relationships" r:id="Rf0e36595dd5942f3"/>
  </p:notesMasterIdLst>
  <p:sldIdLst>
    <p:sldId xmlns:r="http://schemas.openxmlformats.org/officeDocument/2006/relationships" id="256" r:id="R8c07689580c54082"/>
  </p:sldIdLst>
  <p:sldSz cx="42062400" cy="301752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fde0e2bf3d4b3e" /><Relationship Type="http://schemas.openxmlformats.org/officeDocument/2006/relationships/slideMaster" Target="/ppt/slideMasters/slideMaster1.xml" Id="R4f9c02624ebb4c7c" /><Relationship Type="http://schemas.openxmlformats.org/officeDocument/2006/relationships/notesMaster" Target="/ppt/notesMasters/notesMaster1.xml" Id="Rf0e36595dd5942f3" /><Relationship Type="http://schemas.openxmlformats.org/officeDocument/2006/relationships/presProps" Target="/ppt/presProps.xml" Id="R55f6bcaf58aa4251" /><Relationship Type="http://schemas.openxmlformats.org/officeDocument/2006/relationships/viewProps" Target="/ppt/viewProps.xml" Id="Rba72240b8ab84191" /><Relationship Type="http://schemas.openxmlformats.org/officeDocument/2006/relationships/tableStyles" Target="/ppt/tableStyles.xml" Id="R7854170286c3439c" /><Relationship Type="http://schemas.openxmlformats.org/officeDocument/2006/relationships/slide" Target="/ppt/slides/slide1.xml" Id="R8c07689580c540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2b004528214c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4ded72c5674ded" /><Relationship Type="http://schemas.openxmlformats.org/officeDocument/2006/relationships/notesMaster" Target="/ppt/notesMasters/notesMaster1.xml" Id="R599110684e5748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ST-pRRTC: Parallel Space-Time RRT-C with Adaptive Goal-Time Forests. Authors: Duo Zhang, Jintong Li, Junshan Huang, Jingjin Yu.</a:t>
            </a:r>
            <a:endParaRPr/>
          </a:p>
          <a:p xmlns:a="http://schemas.openxmlformats.org/drawingml/2006/main">
            <a:r>
              <a:t>Paper: https://arxiv.org/abs/2609.30533 .</a:t>
            </a:r>
            <a:endParaRPr/>
          </a:p>
          <a:p xmlns:a="http://schemas.openxmlformats.org/drawingml/2006/main">
            <a:r>
              <a:t>Project page and videos: https://duozhangrobotics.github.io/projects/st-prrtc/ .</a:t>
            </a:r>
            <a:endParaRPr/>
          </a:p>
          <a:p xmlns:a="http://schemas.openxmlformats.org/drawingml/2006/main">
            <a:r>
              <a:t>The method diagrams and benchmark figures come from the paper. Success curves include all scenes and average the 0.5, 1, 3, and 5 second budgets, with shading spanning their minimum and maximum. Final-arrival curves show means and 95% bootstrap intervals over cases solved by all four methods at each budget.</a:t>
            </a:r>
            <a:endParaRPr/>
          </a:p>
          <a:p xmlns:a="http://schemas.openxmlformats.org/drawingml/2006/main">
            <a:r>
              <a:t>ST-pRRTC reports GPU-kernel execution time. CPU baselines report planning-call time. Scene construction and upload are excluded. Hardware: RTX 4090 and i9-14900KF, with single-threaded CPU baselines.</a:t>
            </a:r>
            <a:endParaRPr/>
          </a:p>
          <a:p xmlns:a="http://schemas.openxmlformats.org/drawingml/2006/main">
            <a:r>
              <a:t>The interval-root guarantees concern single-goal planning in a bounded horizon. The analysis assumes unlimited sampling and storage, fair scheduling, and sound local collision validation that accepts sufficiently short collision-free motions. Asymptotic arrival-time optimality requires robust trajectories approaching the optimum. Root recycling has no general completeness or arrival-time optimality guarantee.</a:t>
            </a:r>
            <a:endParaRPr/>
          </a:p>
          <a:p xmlns:a="http://schemas.openxmlformats.org/drawingml/2006/main">
            <a:r>
              <a:t>Robot images are temporal overlays of one physical UR5e and its drones. A synchronized trigger starts the preplanned motions with known obstacle trajectories. These demonstrations do not use online replanning.</a:t>
            </a:r>
            <a:endParaRPr/>
          </a:p>
          <a:p xmlns:a="http://schemas.openxmlformats.org/drawingml/2006/main">
            <a:r>
              <a:t>The QR code links to the public project page, including the narrated overview and all four demonstrations.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10b96ba9448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edacdaab144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1c1ce291d43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a27c83c3a41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9f6659a5442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62ad1913642a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ee5f1afe24a7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de39d31e8479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b4176997e46b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cea4a298f4a2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ef87fd952426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D0B8EB-C42B-4872-A132-78938FACD03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54680" y="4938397"/>
            <a:ext cx="35753040" cy="1050544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264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97352E-9B4B-4C33-AAEB-8A7D8AD317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257800" y="15848967"/>
            <a:ext cx="31546800" cy="7285353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560"/>
            </a:lvl1pPr>
            <a:lvl2pPr marL="2011680" indent="0" algn="ctr">
              <a:buNone/>
              <a:defRPr sz="8800"/>
            </a:lvl2pPr>
            <a:lvl3pPr marL="4023360" indent="0" algn="ctr">
              <a:buNone/>
              <a:defRPr sz="7920"/>
            </a:lvl3pPr>
            <a:lvl4pPr marL="6035040" indent="0" algn="ctr">
              <a:buNone/>
              <a:defRPr sz="7040"/>
            </a:lvl4pPr>
            <a:lvl5pPr marL="8046720" indent="0" algn="ctr">
              <a:buNone/>
              <a:defRPr sz="7040"/>
            </a:lvl5pPr>
            <a:lvl6pPr marL="10058400" indent="0" algn="ctr">
              <a:buNone/>
              <a:defRPr sz="7040"/>
            </a:lvl6pPr>
            <a:lvl7pPr marL="12070080" indent="0" algn="ctr">
              <a:buNone/>
              <a:defRPr sz="7040"/>
            </a:lvl7pPr>
            <a:lvl8pPr marL="14081760" indent="0" algn="ctr">
              <a:buNone/>
              <a:defRPr sz="7040"/>
            </a:lvl8pPr>
            <a:lvl9pPr marL="16093440" indent="0" algn="ctr">
              <a:buNone/>
              <a:defRPr sz="704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3E2FE3-DB40-4CB3-9B04-1428CE0FD9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92FA7-45B5-194E-910C-C9D5239F58F2}" type="datetimeFigureOut">
              <a:t>5/20/2026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D365F8-0760-4DC0-910B-F1D124F51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BA2366-1CEC-47B8-9FA0-A5CD4405C2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5FC558-5FCF-1043-ACFF-F1530F1C1D50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18480B-190C-44AF-A660-66F722C3A2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46E76F8-6C69-4568-BAA4-C852F8AC42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8231AD5-66F1-4CCB-90C7-67B2E788B5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92FA7-45B5-194E-910C-C9D5239F58F2}" type="datetimeFigureOut">
              <a:t>5/20/2026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2EA5D6-B7E9-4FAB-8F86-E377F3E29E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130CA6-51AD-4668-9FA2-381CDE3DD4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5FC558-5FCF-1043-ACFF-F1530F1C1D50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C0B561-F842-45D4-863A-CFAEA4AD82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69885" y="7522854"/>
            <a:ext cx="36278820" cy="12552043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64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A83F54-6194-45E7-8D8E-1E20AB4866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869885" y="20193644"/>
            <a:ext cx="36278820" cy="660082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560">
                <a:solidFill>
                  <a:schemeClr val="tx1">
                    <a:tint val="82000"/>
                  </a:schemeClr>
                </a:solidFill>
              </a:defRPr>
            </a:lvl1pPr>
            <a:lvl2pPr marL="2011680" indent="0">
              <a:buNone/>
              <a:defRPr sz="8800">
                <a:solidFill>
                  <a:schemeClr val="tx1">
                    <a:tint val="82000"/>
                  </a:schemeClr>
                </a:solidFill>
              </a:defRPr>
            </a:lvl2pPr>
            <a:lvl3pPr marL="4023360" indent="0">
              <a:buNone/>
              <a:defRPr sz="7920">
                <a:solidFill>
                  <a:schemeClr val="tx1">
                    <a:tint val="82000"/>
                  </a:schemeClr>
                </a:solidFill>
              </a:defRPr>
            </a:lvl3pPr>
            <a:lvl4pPr marL="6035040" indent="0">
              <a:buNone/>
              <a:defRPr sz="7040">
                <a:solidFill>
                  <a:schemeClr val="tx1">
                    <a:tint val="82000"/>
                  </a:schemeClr>
                </a:solidFill>
              </a:defRPr>
            </a:lvl4pPr>
            <a:lvl5pPr marL="8046720" indent="0">
              <a:buNone/>
              <a:defRPr sz="7040">
                <a:solidFill>
                  <a:schemeClr val="tx1">
                    <a:tint val="82000"/>
                  </a:schemeClr>
                </a:solidFill>
              </a:defRPr>
            </a:lvl5pPr>
            <a:lvl6pPr marL="10058400" indent="0">
              <a:buNone/>
              <a:defRPr sz="7040">
                <a:solidFill>
                  <a:schemeClr val="tx1">
                    <a:tint val="82000"/>
                  </a:schemeClr>
                </a:solidFill>
              </a:defRPr>
            </a:lvl6pPr>
            <a:lvl7pPr marL="12070080" indent="0">
              <a:buNone/>
              <a:defRPr sz="7040">
                <a:solidFill>
                  <a:schemeClr val="tx1">
                    <a:tint val="82000"/>
                  </a:schemeClr>
                </a:solidFill>
              </a:defRPr>
            </a:lvl7pPr>
            <a:lvl8pPr marL="14081760" indent="0">
              <a:buNone/>
              <a:defRPr sz="7040">
                <a:solidFill>
                  <a:schemeClr val="tx1">
                    <a:tint val="82000"/>
                  </a:schemeClr>
                </a:solidFill>
              </a:defRPr>
            </a:lvl8pPr>
            <a:lvl9pPr marL="16093440" indent="0">
              <a:buNone/>
              <a:defRPr sz="704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3DEBEE-CBD5-4757-A6A0-2B648E2FA9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92FA7-45B5-194E-910C-C9D5239F58F2}" type="datetimeFigureOut">
              <a:t>5/20/2026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57FB7E7-21AC-4182-A42D-49763990D2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C81DB5-0D23-4B3F-8195-8A01D4705B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5FC558-5FCF-1043-ACFF-F1530F1C1D50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772623-47F7-4404-9429-E29297767C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B931A65-EC1B-41FD-97CB-4FE5C3D163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91790" y="8032750"/>
            <a:ext cx="17876520" cy="191458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514FE4C-AC30-4663-B766-C0FAAA8D5C4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1294090" y="8032750"/>
            <a:ext cx="17876520" cy="191458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FC14FE3-4B74-420D-ADAE-5A1E7B445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92FA7-45B5-194E-910C-C9D5239F58F2}" type="datetimeFigureOut">
              <a:t>5/20/2026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32753B0-FF7C-4A75-8FB3-0BB1C6FC29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3411FC-EBA2-4B01-A119-392BD5085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5FC558-5FCF-1043-ACFF-F1530F1C1D50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0E2362-6CD0-4F0F-BBF3-85AE5E8B77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97269" y="1606557"/>
            <a:ext cx="36278820" cy="583247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15DB77-E827-4EFE-B70E-CB5A25FCE7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897273" y="7397117"/>
            <a:ext cx="17794364" cy="362521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0560" b="1"/>
            </a:lvl1pPr>
            <a:lvl2pPr marL="2011680" indent="0">
              <a:buNone/>
              <a:defRPr sz="8800" b="1"/>
            </a:lvl2pPr>
            <a:lvl3pPr marL="4023360" indent="0">
              <a:buNone/>
              <a:defRPr sz="7920" b="1"/>
            </a:lvl3pPr>
            <a:lvl4pPr marL="6035040" indent="0">
              <a:buNone/>
              <a:defRPr sz="7040" b="1"/>
            </a:lvl4pPr>
            <a:lvl5pPr marL="8046720" indent="0">
              <a:buNone/>
              <a:defRPr sz="7040" b="1"/>
            </a:lvl5pPr>
            <a:lvl6pPr marL="10058400" indent="0">
              <a:buNone/>
              <a:defRPr sz="7040" b="1"/>
            </a:lvl6pPr>
            <a:lvl7pPr marL="12070080" indent="0">
              <a:buNone/>
              <a:defRPr sz="7040" b="1"/>
            </a:lvl7pPr>
            <a:lvl8pPr marL="14081760" indent="0">
              <a:buNone/>
              <a:defRPr sz="7040" b="1"/>
            </a:lvl8pPr>
            <a:lvl9pPr marL="16093440" indent="0">
              <a:buNone/>
              <a:defRPr sz="704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4F64DFF-CF90-428F-9626-241F5B2D42F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897273" y="11022330"/>
            <a:ext cx="17794364" cy="162121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F720E03-A76A-45BC-A60F-D2E5ACD97AC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1294092" y="7397117"/>
            <a:ext cx="17881999" cy="362521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0560" b="1"/>
            </a:lvl1pPr>
            <a:lvl2pPr marL="2011680" indent="0">
              <a:buNone/>
              <a:defRPr sz="8800" b="1"/>
            </a:lvl2pPr>
            <a:lvl3pPr marL="4023360" indent="0">
              <a:buNone/>
              <a:defRPr sz="7920" b="1"/>
            </a:lvl3pPr>
            <a:lvl4pPr marL="6035040" indent="0">
              <a:buNone/>
              <a:defRPr sz="7040" b="1"/>
            </a:lvl4pPr>
            <a:lvl5pPr marL="8046720" indent="0">
              <a:buNone/>
              <a:defRPr sz="7040" b="1"/>
            </a:lvl5pPr>
            <a:lvl6pPr marL="10058400" indent="0">
              <a:buNone/>
              <a:defRPr sz="7040" b="1"/>
            </a:lvl6pPr>
            <a:lvl7pPr marL="12070080" indent="0">
              <a:buNone/>
              <a:defRPr sz="7040" b="1"/>
            </a:lvl7pPr>
            <a:lvl8pPr marL="14081760" indent="0">
              <a:buNone/>
              <a:defRPr sz="7040" b="1"/>
            </a:lvl8pPr>
            <a:lvl9pPr marL="16093440" indent="0">
              <a:buNone/>
              <a:defRPr sz="704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BE4D1E1-A234-439D-AAFD-35352F5083C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21294092" y="11022330"/>
            <a:ext cx="17881999" cy="162121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E5FE3F2-EE17-46F4-806C-1B423DEDC5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92FA7-45B5-194E-910C-C9D5239F58F2}" type="datetimeFigureOut">
              <a:t>5/20/2026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099BD85-B9A7-4B96-ADF7-4EA5A596EC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09CF390-3C5C-47AC-A812-AC88E13162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5FC558-5FCF-1043-ACFF-F1530F1C1D50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D1B6C8-9C53-48E7-B361-FD27C807A4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31E6158-2BB3-4614-A14B-586CF17D08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92FA7-45B5-194E-910C-C9D5239F58F2}" type="datetimeFigureOut">
              <a:t>5/20/2026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88C4DA1-7800-4E55-AC93-4E71811E3F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32D3912-63BA-42DF-A4D3-DE5FD0AC05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5FC558-5FCF-1043-ACFF-F1530F1C1D50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1D3DBCD-C6C4-4A8C-A5B3-A555658B5C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92FA7-45B5-194E-910C-C9D5239F58F2}" type="datetimeFigureOut">
              <a:t>5/20/2026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D38E800-7B9E-4606-838B-5F6569D1C0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365370A-FC46-4C70-8CAA-6108B472C6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5FC558-5FCF-1043-ACFF-F1530F1C1D50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BC54F2-8868-4EC9-B377-3902C5A648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97269" y="2011680"/>
            <a:ext cx="13566219" cy="704088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408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C2021FB-17C5-4949-B577-40E95599334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7881999" y="4344677"/>
            <a:ext cx="21294090" cy="2144395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80"/>
            </a:lvl1pPr>
            <a:lvl2pPr>
              <a:buNone/>
              <a:defRPr sz="12320"/>
            </a:lvl2pPr>
            <a:lvl3pPr>
              <a:buNone/>
              <a:defRPr sz="10560"/>
            </a:lvl3pPr>
            <a:lvl4pPr>
              <a:buNone/>
              <a:defRPr sz="8800"/>
            </a:lvl4pPr>
            <a:lvl5pPr>
              <a:buNone/>
              <a:defRPr sz="8800"/>
            </a:lvl5pPr>
            <a:lvl6pPr>
              <a:buNone/>
              <a:defRPr sz="8800"/>
            </a:lvl6pPr>
            <a:lvl7pPr>
              <a:buNone/>
              <a:defRPr sz="8800"/>
            </a:lvl7pPr>
            <a:lvl8pPr>
              <a:buNone/>
              <a:defRPr sz="8800"/>
            </a:lvl8pPr>
            <a:lvl9pPr>
              <a:buNone/>
              <a:defRPr sz="8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BEF797F-F8AB-4F20-A571-DD419B9FF8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897269" y="9052560"/>
            <a:ext cx="13566219" cy="167709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040"/>
            </a:lvl1pPr>
            <a:lvl2pPr marL="2011680" indent="0">
              <a:buNone/>
              <a:defRPr sz="6160"/>
            </a:lvl2pPr>
            <a:lvl3pPr marL="4023360" indent="0">
              <a:buNone/>
              <a:defRPr sz="5280"/>
            </a:lvl3pPr>
            <a:lvl4pPr marL="6035040" indent="0">
              <a:buNone/>
              <a:defRPr sz="4400"/>
            </a:lvl4pPr>
            <a:lvl5pPr marL="8046720" indent="0">
              <a:buNone/>
              <a:defRPr sz="4400"/>
            </a:lvl5pPr>
            <a:lvl6pPr marL="10058400" indent="0">
              <a:buNone/>
              <a:defRPr sz="4400"/>
            </a:lvl6pPr>
            <a:lvl7pPr marL="12070080" indent="0">
              <a:buNone/>
              <a:defRPr sz="4400"/>
            </a:lvl7pPr>
            <a:lvl8pPr marL="14081760" indent="0">
              <a:buNone/>
              <a:defRPr sz="4400"/>
            </a:lvl8pPr>
            <a:lvl9pPr marL="16093440" indent="0">
              <a:buNone/>
              <a:defRPr sz="4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0838652-068D-4AAD-912C-25E1102519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92FA7-45B5-194E-910C-C9D5239F58F2}" type="datetimeFigureOut">
              <a:t>5/20/2026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893DBAB-D595-4756-9D6F-1FF9B2DC0E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BD27F2A-0F81-437C-8F76-F7EEAFC8A7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5FC558-5FCF-1043-ACFF-F1530F1C1D50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16ACE2-1855-414E-B747-ED27972866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97269" y="2011680"/>
            <a:ext cx="13566219" cy="704088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408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4C6EFD6-7FD9-4955-9BC0-5C5756D4559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881999" y="4344677"/>
            <a:ext cx="21294090" cy="2144395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14080"/>
            </a:lvl1pPr>
            <a:lvl2pPr marL="2011680" indent="0">
              <a:buNone/>
              <a:defRPr sz="12320"/>
            </a:lvl2pPr>
            <a:lvl3pPr marL="4023360" indent="0">
              <a:buNone/>
              <a:defRPr sz="10560"/>
            </a:lvl3pPr>
            <a:lvl4pPr marL="6035040" indent="0">
              <a:buNone/>
              <a:defRPr sz="8800"/>
            </a:lvl4pPr>
            <a:lvl5pPr marL="8046720" indent="0">
              <a:buNone/>
              <a:defRPr sz="8800"/>
            </a:lvl5pPr>
            <a:lvl6pPr marL="10058400" indent="0">
              <a:buNone/>
              <a:defRPr sz="8800"/>
            </a:lvl6pPr>
            <a:lvl7pPr marL="12070080" indent="0">
              <a:buNone/>
              <a:defRPr sz="8800"/>
            </a:lvl7pPr>
            <a:lvl8pPr marL="14081760" indent="0">
              <a:buNone/>
              <a:defRPr sz="8800"/>
            </a:lvl8pPr>
            <a:lvl9pPr marL="16093440" indent="0">
              <a:buNone/>
              <a:defRPr sz="88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3F6A8EA-1564-44FE-A236-8F62A2D978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897269" y="9052560"/>
            <a:ext cx="13566219" cy="167709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040"/>
            </a:lvl1pPr>
            <a:lvl2pPr marL="2011680" indent="0">
              <a:buNone/>
              <a:defRPr sz="6160"/>
            </a:lvl2pPr>
            <a:lvl3pPr marL="4023360" indent="0">
              <a:buNone/>
              <a:defRPr sz="5280"/>
            </a:lvl3pPr>
            <a:lvl4pPr marL="6035040" indent="0">
              <a:buNone/>
              <a:defRPr sz="4400"/>
            </a:lvl4pPr>
            <a:lvl5pPr marL="8046720" indent="0">
              <a:buNone/>
              <a:defRPr sz="4400"/>
            </a:lvl5pPr>
            <a:lvl6pPr marL="10058400" indent="0">
              <a:buNone/>
              <a:defRPr sz="4400"/>
            </a:lvl6pPr>
            <a:lvl7pPr marL="12070080" indent="0">
              <a:buNone/>
              <a:defRPr sz="4400"/>
            </a:lvl7pPr>
            <a:lvl8pPr marL="14081760" indent="0">
              <a:buNone/>
              <a:defRPr sz="4400"/>
            </a:lvl8pPr>
            <a:lvl9pPr marL="16093440" indent="0">
              <a:buNone/>
              <a:defRPr sz="4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3AEA599-210D-460D-84B1-FC1EF996C9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92FA7-45B5-194E-910C-C9D5239F58F2}" type="datetimeFigureOut">
              <a:t>5/20/2026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506C03B-BAC7-479E-9065-B0C6E28A1D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D082D6-4B8B-4F60-AA7D-14BBE69BBC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5FC558-5FCF-1043-ACFF-F1530F1C1D50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00813E-DF2F-48E0-B3AB-D91AE3D03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B8AFEF-34C1-42EE-BEC9-EC8E203B6E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65E7FB-A9FA-469F-A3B6-E785654A86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92FA7-45B5-194E-910C-C9D5239F58F2}" type="datetimeFigureOut">
              <a:t>5/20/2026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0331E2-C650-4AAA-B325-216A9A799C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B0A59F-E88C-4C7E-8AAB-8139EDDCE8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5FC558-5FCF-1043-ACFF-F1530F1C1D50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CA8C654-E68E-493D-85A3-5742FE1AA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00907" y="1606550"/>
            <a:ext cx="9069705" cy="2557208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87B7883-A0B1-436C-BAED-A1CF5E1B9E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891792" y="1606550"/>
            <a:ext cx="26683335" cy="2557208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AD6EDF-C8D1-41F4-8271-D3290C2E41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92FA7-45B5-194E-910C-C9D5239F58F2}" type="datetimeFigureOut">
              <a:t>5/20/2026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6D569F-EE6A-4D9B-97AB-ED298BEA8F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1A1A3F-510A-4062-85A4-2D7F5977AD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5FC558-5FCF-1043-ACFF-F1530F1C1D50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02ccb66d604302" /><Relationship Type="http://schemas.openxmlformats.org/officeDocument/2006/relationships/slideLayout" Target="/ppt/slideLayouts/slideLayout1.xml" Id="Rd53af404002f4cec" /><Relationship Type="http://schemas.openxmlformats.org/officeDocument/2006/relationships/slideLayout" Target="/ppt/slideLayouts/slideLayout2.xml" Id="R27ad0e6296ba409c" /><Relationship Type="http://schemas.openxmlformats.org/officeDocument/2006/relationships/slideLayout" Target="/ppt/slideLayouts/slideLayout3.xml" Id="R05777c82fcc94d4d" /><Relationship Type="http://schemas.openxmlformats.org/officeDocument/2006/relationships/slideLayout" Target="/ppt/slideLayouts/slideLayout4.xml" Id="R541ac953873a43d4" /><Relationship Type="http://schemas.openxmlformats.org/officeDocument/2006/relationships/slideLayout" Target="/ppt/slideLayouts/slideLayout5.xml" Id="Re7ee59737fea4eb1" /><Relationship Type="http://schemas.openxmlformats.org/officeDocument/2006/relationships/slideLayout" Target="/ppt/slideLayouts/slideLayout6.xml" Id="R1359877009e1490d" /><Relationship Type="http://schemas.openxmlformats.org/officeDocument/2006/relationships/slideLayout" Target="/ppt/slideLayouts/slideLayout7.xml" Id="R1822c9e5b49f4e4c" /><Relationship Type="http://schemas.openxmlformats.org/officeDocument/2006/relationships/slideLayout" Target="/ppt/slideLayouts/slideLayout8.xml" Id="R39a426de7c854029" /><Relationship Type="http://schemas.openxmlformats.org/officeDocument/2006/relationships/slideLayout" Target="/ppt/slideLayouts/slideLayout9.xml" Id="R75d07c6071204ecc" /><Relationship Type="http://schemas.openxmlformats.org/officeDocument/2006/relationships/slideLayout" Target="/ppt/slideLayouts/slideLayout10.xml" Id="R1222a42f4e93467b" /><Relationship Type="http://schemas.openxmlformats.org/officeDocument/2006/relationships/slideLayout" Target="/ppt/slideLayouts/slideLayout11.xml" Id="R848f5f3b547044c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EBC4A03-073E-40EA-8628-51E3D2D82B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91790" y="1606557"/>
            <a:ext cx="36278820" cy="58324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8B36AE-333A-4AE4-8997-9448744054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891790" y="8032750"/>
            <a:ext cx="36278820" cy="191458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F276C2-EF30-40CB-B396-50BCDE2ED59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2891790" y="27967947"/>
            <a:ext cx="9464040" cy="1606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528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9D92FA7-45B5-194E-910C-C9D5239F58F2}" type="datetimeFigureOut">
              <a:t>5/20/2026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EE6203-FCAE-49F8-A2D9-4E2CC0F0F93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933170" y="27967947"/>
            <a:ext cx="14196060" cy="1606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528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968EA5-01DD-466D-B86D-961B716B16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9706570" y="27967947"/>
            <a:ext cx="9464040" cy="1606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528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25FC558-5FCF-1043-ACFF-F1530F1C1D5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3af404002f4cec"/>
    <p:sldLayoutId xmlns:r="http://schemas.openxmlformats.org/officeDocument/2006/relationships" id="2147483650" r:id="R27ad0e6296ba409c"/>
    <p:sldLayoutId xmlns:r="http://schemas.openxmlformats.org/officeDocument/2006/relationships" id="2147483651" r:id="R05777c82fcc94d4d"/>
    <p:sldLayoutId xmlns:r="http://schemas.openxmlformats.org/officeDocument/2006/relationships" id="2147483652" r:id="R541ac953873a43d4"/>
    <p:sldLayoutId xmlns:r="http://schemas.openxmlformats.org/officeDocument/2006/relationships" id="2147483653" r:id="Re7ee59737fea4eb1"/>
    <p:sldLayoutId xmlns:r="http://schemas.openxmlformats.org/officeDocument/2006/relationships" id="2147483654" r:id="R1359877009e1490d"/>
    <p:sldLayoutId xmlns:r="http://schemas.openxmlformats.org/officeDocument/2006/relationships" id="2147483655" r:id="R1822c9e5b49f4e4c"/>
    <p:sldLayoutId xmlns:r="http://schemas.openxmlformats.org/officeDocument/2006/relationships" id="2147483656" r:id="R39a426de7c854029"/>
    <p:sldLayoutId xmlns:r="http://schemas.openxmlformats.org/officeDocument/2006/relationships" id="2147483657" r:id="R75d07c6071204ecc"/>
    <p:sldLayoutId xmlns:r="http://schemas.openxmlformats.org/officeDocument/2006/relationships" id="2147483658" r:id="R1222a42f4e93467b"/>
    <p:sldLayoutId xmlns:r="http://schemas.openxmlformats.org/officeDocument/2006/relationships" id="2147483659" r:id="R848f5f3b547044c6"/>
  </p:sldLayoutIdLst>
  <p:txStyles>
    <p:titleStyle>
      <a:lvl1pPr xmlns:a="http://schemas.openxmlformats.org/drawingml/2006/main" algn="l" defTabSz="4023360">
        <a:lnSpc>
          <a:spcPct val="90000"/>
        </a:lnSpc>
        <a:spcBef>
          <a:spcPct val="0"/>
        </a:spcBef>
        <a:buNone/>
        <a:defRPr sz="1936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005840" indent="-1005840" algn="l" defTabSz="4023360">
        <a:lnSpc>
          <a:spcPct val="90000"/>
        </a:lnSpc>
        <a:spcBef>
          <a:spcPts val="4400"/>
        </a:spcBef>
        <a:buFont typeface="Arial"/>
        <a:buChar char="•"/>
        <a:defRPr sz="1232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017520" indent="-1005840" algn="l" defTabSz="4023360">
        <a:lnSpc>
          <a:spcPct val="90000"/>
        </a:lnSpc>
        <a:spcBef>
          <a:spcPts val="2200"/>
        </a:spcBef>
        <a:buFont typeface="Arial"/>
        <a:buChar char="•"/>
        <a:defRPr sz="105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029200" indent="-1005840" algn="l" defTabSz="4023360">
        <a:lnSpc>
          <a:spcPct val="90000"/>
        </a:lnSpc>
        <a:spcBef>
          <a:spcPts val="2200"/>
        </a:spcBef>
        <a:buFont typeface="Arial"/>
        <a:buChar char="•"/>
        <a:defRPr sz="8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040880" indent="-1005840" algn="l" defTabSz="4023360">
        <a:lnSpc>
          <a:spcPct val="90000"/>
        </a:lnSpc>
        <a:spcBef>
          <a:spcPts val="2200"/>
        </a:spcBef>
        <a:buFont typeface="Arial"/>
        <a:buChar char="•"/>
        <a:defRPr sz="792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052560" indent="-1005840" algn="l" defTabSz="4023360">
        <a:lnSpc>
          <a:spcPct val="90000"/>
        </a:lnSpc>
        <a:spcBef>
          <a:spcPts val="2200"/>
        </a:spcBef>
        <a:buFont typeface="Arial"/>
        <a:buChar char="•"/>
        <a:defRPr sz="792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1064240" indent="-1005840" algn="l" defTabSz="4023360">
        <a:lnSpc>
          <a:spcPct val="90000"/>
        </a:lnSpc>
        <a:spcBef>
          <a:spcPts val="2200"/>
        </a:spcBef>
        <a:buFont typeface="Arial"/>
        <a:buChar char="•"/>
        <a:defRPr sz="792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3075920" indent="-1005840" algn="l" defTabSz="4023360">
        <a:lnSpc>
          <a:spcPct val="90000"/>
        </a:lnSpc>
        <a:spcBef>
          <a:spcPts val="2200"/>
        </a:spcBef>
        <a:buFont typeface="Arial"/>
        <a:buChar char="•"/>
        <a:defRPr sz="792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5087600" indent="-1005840" algn="l" defTabSz="4023360">
        <a:lnSpc>
          <a:spcPct val="90000"/>
        </a:lnSpc>
        <a:spcBef>
          <a:spcPts val="2200"/>
        </a:spcBef>
        <a:buFont typeface="Arial"/>
        <a:buChar char="•"/>
        <a:defRPr sz="792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7099280" indent="-1005840" algn="l" defTabSz="4023360">
        <a:lnSpc>
          <a:spcPct val="90000"/>
        </a:lnSpc>
        <a:spcBef>
          <a:spcPts val="2200"/>
        </a:spcBef>
        <a:buFont typeface="Arial"/>
        <a:buChar char="•"/>
        <a:defRPr sz="792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023360">
        <a:buNone/>
        <a:defRPr sz="792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011680" algn="l" defTabSz="4023360">
        <a:buNone/>
        <a:defRPr sz="79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4023360" algn="l" defTabSz="4023360">
        <a:buNone/>
        <a:defRPr sz="792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6035040" algn="l" defTabSz="4023360">
        <a:buNone/>
        <a:defRPr sz="792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8046720" algn="l" defTabSz="4023360">
        <a:buNone/>
        <a:defRPr sz="792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058400" algn="l" defTabSz="4023360">
        <a:buNone/>
        <a:defRPr sz="792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2070080" algn="l" defTabSz="4023360">
        <a:buNone/>
        <a:defRPr sz="792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4081760" algn="l" defTabSz="4023360">
        <a:buNone/>
        <a:defRPr sz="792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6093440" algn="l" defTabSz="4023360">
        <a:buNone/>
        <a:defRPr sz="792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164d5abcd4bbf" /><Relationship Type="http://schemas.openxmlformats.org/officeDocument/2006/relationships/image" Target="/ppt/media/image.png" Id="R6f0de038e6124c2a" /><Relationship Type="http://schemas.openxmlformats.org/officeDocument/2006/relationships/image" Target="/ppt/media/image.svg" Id="R6150a9010612459c" /><Relationship Type="http://schemas.openxmlformats.org/officeDocument/2006/relationships/image" Target="/ppt/media/image2.png" Id="R0f156e8653f14f7f" /><Relationship Type="http://schemas.openxmlformats.org/officeDocument/2006/relationships/image" Target="/ppt/media/image3.png" Id="Rf6f7b1b4977042df" /><Relationship Type="http://schemas.openxmlformats.org/officeDocument/2006/relationships/image" Target="/ppt/media/image4.png" Id="R5da6d6917100487e" /><Relationship Type="http://schemas.openxmlformats.org/officeDocument/2006/relationships/hyperlink" Target="https://duozhangrobotics.github.io/projects/st-prrtc/" TargetMode="External" Id="Rcbd4c95c22df401e" /><Relationship Type="http://schemas.openxmlformats.org/officeDocument/2006/relationships/image" Target="/ppt/media/image.jpeg" Id="Rc1059bec8bfd4a21" /><Relationship Type="http://schemas.openxmlformats.org/officeDocument/2006/relationships/image" Target="/ppt/media/image5.png" Id="R0af11716432945af" /><Relationship Type="http://schemas.openxmlformats.org/officeDocument/2006/relationships/image" Target="/ppt/media/image6.png" Id="Reef9ed4e440f4268" /><Relationship Type="http://schemas.openxmlformats.org/officeDocument/2006/relationships/image" Target="/ppt/media/image7.png" Id="Rf22344ebed184361" /><Relationship Type="http://schemas.openxmlformats.org/officeDocument/2006/relationships/image" Target="/ppt/media/image8.png" Id="R726129a9123341a1" /><Relationship Type="http://schemas.openxmlformats.org/officeDocument/2006/relationships/image" Target="/ppt/media/image9.png" Id="Rc5879596e5b44929" /><Relationship Type="http://schemas.openxmlformats.org/officeDocument/2006/relationships/image" Target="/ppt/media/image10.png" Id="Rca87d86cd67341c4" /><Relationship Type="http://schemas.openxmlformats.org/officeDocument/2006/relationships/image" Target="/ppt/media/image11.png" Id="R2d1f6e3baec7443a" /><Relationship Type="http://schemas.openxmlformats.org/officeDocument/2006/relationships/image" Target="/ppt/media/image12.png" Id="R4b8c76a51a554131" /><Relationship Type="http://schemas.openxmlformats.org/officeDocument/2006/relationships/image" Target="/ppt/media/image13.png" Id="R76e770908cc6427a" /><Relationship Type="http://schemas.openxmlformats.org/officeDocument/2006/relationships/image" Target="/ppt/media/image14.png" Id="R5f2abfca8bad4faf" /><Relationship Type="http://schemas.openxmlformats.org/officeDocument/2006/relationships/image" Target="/ppt/media/image15.png" Id="R16bcac6086b74f10" /><Relationship Type="http://schemas.openxmlformats.org/officeDocument/2006/relationships/image" Target="/ppt/media/image16.png" Id="Rb86d8b7f207c4555" /><Relationship Type="http://schemas.openxmlformats.org/officeDocument/2006/relationships/image" Target="/ppt/media/image2.jpeg" Id="R1fbdb80a1aef4e29" /><Relationship Type="http://schemas.openxmlformats.org/officeDocument/2006/relationships/image" Target="/ppt/media/image3.jpeg" Id="Rce9b84dfa36f4110" /><Relationship Type="http://schemas.openxmlformats.org/officeDocument/2006/relationships/image" Target="/ppt/media/image4.jpeg" Id="Rb910121224034a31" /><Relationship Type="http://schemas.openxmlformats.org/officeDocument/2006/relationships/image" Target="/ppt/media/image5.jpeg" Id="R9658f305dbbb4093" /><Relationship Type="http://schemas.openxmlformats.org/officeDocument/2006/relationships/notesSlide" Target="/ppt/notesSlides/notesSlide1.xml" Id="R20e820e8ac8248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802E96-2C08-6AAD-8010-ED9111EB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4206240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33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552"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E607174-E43A-42AC-094E-05A78AF4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838200"/>
            <a:ext cx="420624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552"/>
          </a:p>
        </p:txBody>
      </p:sp>
      <p:pic>
        <p:nvPicPr>
          <p:cNvPr id="7" name="Graphic 6">
            <a:extLst xmlns:a="http://schemas.openxmlformats.org/drawingml/2006/main">
              <a:ext uri="{FF2B5EF4-FFF2-40B4-BE49-F238E27FC236}">
                <a16:creationId xmlns:a16="http://schemas.microsoft.com/office/drawing/2014/main" id="{824A9478-D199-4B18-A447-7CAE4E8CFD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de038e6124c2a">
            <a:extLst>
              <a:ext uri="{96DAC541-7B7A-43D3-8B79-37D633B846F1}">
                <asvg:svgBlip xmlns:asvg="http://schemas.microsoft.com/office/drawing/2016/SVG/main" r:embed="R6150a9010612459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38150" y="1885950"/>
            <a:ext cx="7855403" cy="125730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8D02F6B-A6B6-4BB1-EBDE-1240259A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70033" y="1641745"/>
            <a:ext cx="41404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317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552"/>
          </a:p>
        </p:txBody>
      </p:sp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3F7E4D7D-4F66-449C-81B2-2EEBC15E15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56e8653f14f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7925341" y="1864176"/>
            <a:ext cx="1210916" cy="1234919"/>
          </a:xfrm>
          <a:prstGeom xmlns:a="http://schemas.openxmlformats.org/drawingml/2006/main" prst="rect">
            <a:avLst/>
          </a:prstGeom>
        </p:spPr>
      </p:pic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554542D-2884-8E84-A0A7-74EDFB2D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1567" y="1807959"/>
            <a:ext cx="2515579" cy="1277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567">
                <a:latin typeface="Broadway"/>
                <a:ea typeface="Broadway"/>
                <a:cs typeface="Broadway"/>
              </a:rPr>
              <a:t>Algorithmic </a:t>
            </a:r>
          </a:p>
          <a:p xmlns:a="http://schemas.openxmlformats.org/drawingml/2006/main">
            <a:r>
              <a:rPr sz="2567">
                <a:latin typeface="Broadway"/>
                <a:ea typeface="Broadway"/>
                <a:cs typeface="Broadway"/>
              </a:rPr>
              <a:t>Robotics  &amp; </a:t>
            </a:r>
          </a:p>
          <a:p xmlns:a="http://schemas.openxmlformats.org/drawingml/2006/main">
            <a:r>
              <a:rPr sz="2567">
                <a:latin typeface="Broadway"/>
                <a:ea typeface="Broadway"/>
                <a:cs typeface="Broadway"/>
              </a:rPr>
              <a:t>Control Lab</a:t>
            </a:r>
          </a:p>
        </p:txBody>
      </p:sp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72D3DC7E-E9A6-4E45-8522-533F68B2AE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7b1b4977042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47044" y="1618651"/>
            <a:ext cx="1667683" cy="16764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52" name="Background &amp; Motivation">
            <a:extLst xmlns:a="http://schemas.openxmlformats.org/drawingml/2006/main">
              <a:ext uri="{FF2B5EF4-FFF2-40B4-BE49-F238E27FC236}">
                <a16:creationId xmlns:a16="http://schemas.microsoft.com/office/drawing/2014/main" id="{C419CB4A-3CC2-4E35-9D29-41501EAF6FC7}"/>
              </a:ext>
            </a:extLst>
          </p:cNvPr>
          <p:cNvGraphicFramePr/>
          <p:nvPr/>
        </p:nvGraphicFramePr>
        <p:xfrm>
          <a:off xmlns:a="http://schemas.openxmlformats.org/drawingml/2006/main" x="247650" y="5298377"/>
          <a:ext xmlns:a="http://schemas.openxmlformats.org/drawingml/2006/main" cx="20442460" cy="619125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2460"/>
              </a:tblGrid>
              <a:tr h="838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4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Background &amp; Motivation</a:t>
                      </a:r>
                    </a:p>
                  </a:txBody>
                  <a:tcPr marL="84790" marR="84790" marT="42395" marB="42395" anchor="ctr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0033"/>
                    </a:solidFill>
                  </a:tcPr>
                </a:tc>
              </a:tr>
              <a:tr h="5353050">
                <a:tc>
                  <a:txBody>
                    <a:bodyPr/>
                    <a:lstStyle/>
                    <a:p>
                      <a:pPr/>
                    </a:p>
                  </a:txBody>
                  <a:tcPr marL="84790" marR="84790" marT="42395" marB="42395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" name="ST-pRRTC: Interval Root and Root Recycling">
            <a:extLst xmlns:a="http://schemas.openxmlformats.org/drawingml/2006/main">
              <a:ext uri="{FF2B5EF4-FFF2-40B4-BE49-F238E27FC236}">
                <a16:creationId xmlns:a16="http://schemas.microsoft.com/office/drawing/2014/main" id="{69E65876-AE74-4C51-AAB4-9CE17E9C13F1}"/>
              </a:ext>
            </a:extLst>
          </p:cNvPr>
          <p:cNvGraphicFramePr/>
          <p:nvPr/>
        </p:nvGraphicFramePr>
        <p:xfrm>
          <a:off xmlns:a="http://schemas.openxmlformats.org/drawingml/2006/main" x="247650" y="11753850"/>
          <a:ext xmlns:a="http://schemas.openxmlformats.org/drawingml/2006/main" cx="20442460" cy="182499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2460"/>
              </a:tblGrid>
              <a:tr h="838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4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ST-pRRTC: Interval Root and Root Recycling</a:t>
                      </a:r>
                    </a:p>
                  </a:txBody>
                  <a:tcPr marL="84790" marR="84790" marT="42395" marB="42395" anchor="ctr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0033"/>
                    </a:solidFill>
                  </a:tcPr>
                </a:tc>
              </a:tr>
              <a:tr h="17411700">
                <a:tc>
                  <a:txBody>
                    <a:bodyPr/>
                    <a:lstStyle/>
                    <a:p>
                      <a:pPr/>
                    </a:p>
                  </a:txBody>
                  <a:tcPr marL="84790" marR="84790" marT="42395" marB="42395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0" name="Benchmarks: Faster First Solutions, Earlier Arrivals">
            <a:extLst xmlns:a="http://schemas.openxmlformats.org/drawingml/2006/main">
              <a:ext uri="{FF2B5EF4-FFF2-40B4-BE49-F238E27FC236}">
                <a16:creationId xmlns:a16="http://schemas.microsoft.com/office/drawing/2014/main" id="{F3FBA493-8E1D-4458-A711-E480872362A1}"/>
              </a:ext>
            </a:extLst>
          </p:cNvPr>
          <p:cNvGraphicFramePr/>
          <p:nvPr/>
        </p:nvGraphicFramePr>
        <p:xfrm>
          <a:off xmlns:a="http://schemas.openxmlformats.org/drawingml/2006/main" x="21372290" y="5298377"/>
          <a:ext xmlns:a="http://schemas.openxmlformats.org/drawingml/2006/main" cx="20442460" cy="16002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2460"/>
              </a:tblGrid>
              <a:tr h="838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4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Benchmarks: Faster First Solutions, Earlier Arrivals</a:t>
                      </a:r>
                    </a:p>
                  </a:txBody>
                  <a:tcPr marL="84790" marR="84790" marT="42395" marB="42395" anchor="ctr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0033"/>
                    </a:solidFill>
                  </a:tcPr>
                </a:tc>
              </a:tr>
              <a:tr h="15163800">
                <a:tc>
                  <a:txBody>
                    <a:bodyPr/>
                    <a:lstStyle/>
                    <a:p>
                      <a:pPr/>
                    </a:p>
                  </a:txBody>
                  <a:tcPr marL="84790" marR="84790" marT="42395" marB="42395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3" name="Real-Robot Demonstrations">
            <a:extLst xmlns:a="http://schemas.openxmlformats.org/drawingml/2006/main">
              <a:ext uri="{FF2B5EF4-FFF2-40B4-BE49-F238E27FC236}">
                <a16:creationId xmlns:a16="http://schemas.microsoft.com/office/drawing/2014/main" id="{C63F4D8F-F5D1-427E-9632-06DF8065A199}"/>
              </a:ext>
            </a:extLst>
          </p:cNvPr>
          <p:cNvGraphicFramePr/>
          <p:nvPr/>
        </p:nvGraphicFramePr>
        <p:xfrm>
          <a:off xmlns:a="http://schemas.openxmlformats.org/drawingml/2006/main" x="21372290" y="21564600"/>
          <a:ext xmlns:a="http://schemas.openxmlformats.org/drawingml/2006/main" cx="20442460" cy="840105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2460"/>
              </a:tblGrid>
              <a:tr h="838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4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Real-Robot Demonstrations</a:t>
                      </a:r>
                    </a:p>
                  </a:txBody>
                  <a:tcPr marL="84790" marR="84790" marT="42395" marB="42395" anchor="ctr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0033"/>
                    </a:solidFill>
                  </a:tcPr>
                </a:tc>
              </a:tr>
              <a:tr h="7562850">
                <a:tc>
                  <a:txBody>
                    <a:bodyPr/>
                    <a:lstStyle/>
                    <a:p>
                      <a:pPr/>
                    </a:p>
                  </a:txBody>
                  <a:tcPr marL="84790" marR="84790" marT="42395" marB="42395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84" name="Paper title">
            <a:extLst xmlns:a="http://schemas.openxmlformats.org/drawingml/2006/main">
              <a:ext uri="{FF2B5EF4-FFF2-40B4-BE49-F238E27FC236}">
                <a16:creationId xmlns:a16="http://schemas.microsoft.com/office/drawing/2014/main" id="{F666D01F-F5D6-409F-8E08-8802DC95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23950"/>
            <a:ext cx="2600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60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60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ST-pRRTC: Parallel Space-Time RRT-C with Adaptive Goal-Time Forests</a:t>
            </a:r>
          </a:p>
        </p:txBody>
      </p:sp>
      <p:sp>
        <p:nvSpPr>
          <p:cNvPr id="385" name="Author 1">
            <a:extLst xmlns:a="http://schemas.openxmlformats.org/drawingml/2006/main">
              <a:ext uri="{FF2B5EF4-FFF2-40B4-BE49-F238E27FC236}">
                <a16:creationId xmlns:a16="http://schemas.microsoft.com/office/drawing/2014/main" id="{2E478C28-EC6B-40C0-AD47-09FF7890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62200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4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Duo Zhang</a:t>
            </a:r>
          </a:p>
        </p:txBody>
      </p:sp>
      <p:sp>
        <p:nvSpPr>
          <p:cNvPr id="386" name="Author 2">
            <a:extLst xmlns:a="http://schemas.openxmlformats.org/drawingml/2006/main">
              <a:ext uri="{FF2B5EF4-FFF2-40B4-BE49-F238E27FC236}">
                <a16:creationId xmlns:a16="http://schemas.microsoft.com/office/drawing/2014/main" id="{1F26DAD5-7E6A-48C6-A173-F1332EA2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2362200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4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Jintong Li</a:t>
            </a:r>
          </a:p>
        </p:txBody>
      </p:sp>
      <p:sp>
        <p:nvSpPr>
          <p:cNvPr id="387" name="Author 3">
            <a:extLst xmlns:a="http://schemas.openxmlformats.org/drawingml/2006/main">
              <a:ext uri="{FF2B5EF4-FFF2-40B4-BE49-F238E27FC236}">
                <a16:creationId xmlns:a16="http://schemas.microsoft.com/office/drawing/2014/main" id="{3CA88A75-41C5-4D93-9336-D43E091C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0" y="2362200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4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Junshan Huang</a:t>
            </a:r>
          </a:p>
        </p:txBody>
      </p:sp>
      <p:sp>
        <p:nvSpPr>
          <p:cNvPr id="388" name="Author 4">
            <a:extLst xmlns:a="http://schemas.openxmlformats.org/drawingml/2006/main">
              <a:ext uri="{FF2B5EF4-FFF2-40B4-BE49-F238E27FC236}">
                <a16:creationId xmlns:a16="http://schemas.microsoft.com/office/drawing/2014/main" id="{EAD5A1DA-1EA6-4EC6-8931-77824BF2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875" y="2362200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4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Jingjin Yu</a:t>
            </a:r>
          </a:p>
        </p:txBody>
      </p:sp>
      <p:sp>
        <p:nvSpPr>
          <p:cNvPr id="389" name="Affiliation">
            <a:extLst xmlns:a="http://schemas.openxmlformats.org/drawingml/2006/main">
              <a:ext uri="{FF2B5EF4-FFF2-40B4-BE49-F238E27FC236}">
                <a16:creationId xmlns:a16="http://schemas.microsoft.com/office/drawing/2014/main" id="{609A782A-DF79-4115-BD51-923C0644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57550"/>
            <a:ext cx="2447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4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Department of Computer Science, Rutgers, The State University of New Jersey, Piscataway, NJ, USA</a:t>
            </a:r>
          </a:p>
        </p:txBody>
      </p:sp>
      <p:pic>
        <p:nvPic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7A86F95B-3F98-4FBA-BC6A-CB73AA7E69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6d6917100487e"/>
          <a:stretch xmlns:a="http://schemas.openxmlformats.org/drawingml/2006/main"/>
        </p:blipFill>
        <p:spPr>
          <a:xfrm xmlns:a="http://schemas.openxmlformats.org/drawingml/2006/main">
            <a:off x="33413700" y="121920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391" name="Project QR caption">
            <a:extLst xmlns:a="http://schemas.openxmlformats.org/drawingml/2006/main">
              <a:ext uri="{FF2B5EF4-FFF2-40B4-BE49-F238E27FC236}">
                <a16:creationId xmlns:a16="http://schemas.microsoft.com/office/drawing/2014/main" id="{72F3C496-4FD7-499F-B2B2-70BD64AF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3700" y="3695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cbd4c95c22df401e"/>
              </a:rPr>
              <a:t>Paper &amp; videos</a:t>
            </a:r>
          </a:p>
        </p:txBody>
      </p:sp>
      <p:sp>
        <p:nvSpPr>
          <p:cNvPr id="392" name="Motivation">
            <a:extLst xmlns:a="http://schemas.openxmlformats.org/drawingml/2006/main">
              <a:ext uri="{FF2B5EF4-FFF2-40B4-BE49-F238E27FC236}">
                <a16:creationId xmlns:a16="http://schemas.microsoft.com/office/drawing/2014/main" id="{222C5DBB-12AD-48C6-88FA-A71A4FB5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24625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4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Obstacle trajectories are known, but the robot’s goal-arrival time is unspecified.</a:t>
            </a:r>
          </a:p>
        </p:txBody>
      </p:sp>
      <p:sp>
        <p:nvSpPr>
          <p:cNvPr id="393" name="Arrival-time challenge">
            <a:extLst xmlns:a="http://schemas.openxmlformats.org/drawingml/2006/main">
              <a:ext uri="{FF2B5EF4-FFF2-40B4-BE49-F238E27FC236}">
                <a16:creationId xmlns:a16="http://schemas.microsoft.com/office/drawing/2014/main" id="{10FEADA0-814C-4FE4-ABE4-E596817F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239125"/>
            <a:ext cx="1076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4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Backward trees need both a goal configuration and an arrival time. More candidate times improve coverage but divide the search budget.</a:t>
            </a:r>
          </a:p>
        </p:txBody>
      </p:sp>
      <p:sp>
        <p:nvSpPr>
          <p:cNvPr id="394" name="Objective">
            <a:extLst xmlns:a="http://schemas.openxmlformats.org/drawingml/2006/main">
              <a:ext uri="{FF2B5EF4-FFF2-40B4-BE49-F238E27FC236}">
                <a16:creationId xmlns:a16="http://schemas.microsoft.com/office/drawing/2014/main" id="{94A37504-B092-478D-99ED-0AAEC647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Objective: earliest collision-free arrival</a:t>
            </a:r>
          </a:p>
        </p:txBody>
      </p:sp>
      <p:pic>
        <p:nvPic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1D50A2D6-87BE-42FF-8D7D-A61B810D81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59bec8bfd4a21"/>
          <a:srcRect xmlns:a="http://schemas.openxmlformats.org/drawingml/2006/main" l="13021" t="24074" r="28646" b="11111"/>
          <a:stretch xmlns:a="http://schemas.openxmlformats.org/drawingml/2006/main"/>
        </p:blipFill>
        <p:spPr>
          <a:xfrm xmlns:a="http://schemas.openxmlformats.org/drawingml/2006/main">
            <a:off x="12573000" y="647700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396" name="Shared GPU search">
            <a:extLst xmlns:a="http://schemas.openxmlformats.org/drawingml/2006/main">
              <a:ext uri="{FF2B5EF4-FFF2-40B4-BE49-F238E27FC236}">
                <a16:creationId xmlns:a16="http://schemas.microsoft.com/office/drawing/2014/main" id="{F63E03F9-7B92-4304-9490-4F7F6CA6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11125"/>
            <a:ext cx="1952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GPU workers grow one shared forward tree and a backward forest from the goal.</a:t>
            </a:r>
          </a:p>
          <a:p xmlns:a="http://schemas.openxmlformats.org/drawingml/2006/main">
            <a:pPr algn="l">
              <a:def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Each backward root fixes an arrival time.</a:t>
            </a:r>
          </a:p>
        </p:txBody>
      </p:sp>
      <p:sp>
        <p:nvSpPr>
          <p:cNvPr id="397" name="Interval root heading">
            <a:extLst xmlns:a="http://schemas.openxmlformats.org/drawingml/2006/main">
              <a:ext uri="{FF2B5EF4-FFF2-40B4-BE49-F238E27FC236}">
                <a16:creationId xmlns:a16="http://schemas.microsoft.com/office/drawing/2014/main" id="{5CD7A1B3-F0BB-4F2C-9333-0295DF31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0"/>
            <a:ext cx="1952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40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Interval root: continuous arrival-time sampling</a:t>
            </a:r>
          </a:p>
        </p:txBody>
      </p:sp>
      <p:sp>
        <p:nvSpPr>
          <p:cNvPr id="398" name="Interval root explanation">
            <a:extLst xmlns:a="http://schemas.openxmlformats.org/drawingml/2006/main">
              <a:ext uri="{FF2B5EF4-FFF2-40B4-BE49-F238E27FC236}">
                <a16:creationId xmlns:a16="http://schemas.microsoft.com/office/drawing/2014/main" id="{CF471273-C123-46E8-A78D-5A5F7A0A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82800"/>
            <a:ext cx="19526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Uniform sampling preserves coverage. Goal checks guide sampling toward promising times.</a:t>
            </a:r>
          </a:p>
          <a:p xmlns:a="http://schemas.openxmlformats.org/drawingml/2006/main">
            <a:pPr algn="l">
              <a:def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We collision-check each new root. A new best arrival U narrows the search range.</a:t>
            </a:r>
          </a:p>
        </p:txBody>
      </p:sp>
      <p:pic>
        <p:nvPic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410DF5A2-F9DE-4DFF-82CF-6CAA24B5B0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11716432945af"/>
          <a:stretch xmlns:a="http://schemas.openxmlformats.org/drawingml/2006/main"/>
        </p:blipFill>
        <p:spPr>
          <a:xfrm xmlns:a="http://schemas.openxmlformats.org/drawingml/2006/main">
            <a:off x="666750" y="16097272"/>
            <a:ext cx="19526250" cy="4920000"/>
          </a:xfrm>
          <a:prstGeom xmlns:a="http://schemas.openxmlformats.org/drawingml/2006/main" prst="rect">
            <a:avLst/>
          </a:prstGeom>
        </p:spPr>
      </p:pic>
      <p:sp>
        <p:nvSpPr>
          <p:cNvPr id="400" name="Guarantee heading">
            <a:extLst xmlns:a="http://schemas.openxmlformats.org/drawingml/2006/main">
              <a:ext uri="{FF2B5EF4-FFF2-40B4-BE49-F238E27FC236}">
                <a16:creationId xmlns:a16="http://schemas.microsoft.com/office/drawing/2014/main" id="{8423594A-0E4E-4CFB-83AA-E6F093B5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0"/>
            <a:ext cx="1952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Interval root: probabilistic completeness and asymptotic arrival-time optimality</a:t>
            </a:r>
          </a:p>
        </p:txBody>
      </p:sp>
      <p:sp>
        <p:nvSpPr>
          <p:cNvPr id="401" name="Guarantees">
            <a:extLst xmlns:a="http://schemas.openxmlformats.org/drawingml/2006/main">
              <a:ext uri="{FF2B5EF4-FFF2-40B4-BE49-F238E27FC236}">
                <a16:creationId xmlns:a16="http://schemas.microsoft.com/office/drawing/2014/main" id="{D202BB12-C5D4-4E72-B15A-F675B875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36050"/>
            <a:ext cx="1952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4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For a bounded horizon H and positive-clearance paths (single-goal planning).</a:t>
            </a:r>
          </a:p>
        </p:txBody>
      </p:sp>
      <p:sp>
        <p:nvSpPr>
          <p:cNvPr id="402" name="Root recycling heading">
            <a:extLst xmlns:a="http://schemas.openxmlformats.org/drawingml/2006/main">
              <a:ext uri="{FF2B5EF4-FFF2-40B4-BE49-F238E27FC236}">
                <a16:creationId xmlns:a16="http://schemas.microsoft.com/office/drawing/2014/main" id="{5B2C3305-3688-48B2-9874-6B67BD4C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0"/>
            <a:ext cx="1952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40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Root recycling: a fixed set of reusable tree slots</a:t>
            </a:r>
          </a:p>
        </p:txBody>
      </p:sp>
      <p:sp>
        <p:nvSpPr>
          <p:cNvPr id="403" name="Root recycling explanation">
            <a:extLst xmlns:a="http://schemas.openxmlformats.org/drawingml/2006/main">
              <a:ext uri="{FF2B5EF4-FFF2-40B4-BE49-F238E27FC236}">
                <a16:creationId xmlns:a16="http://schemas.microsoft.com/office/drawing/2014/main" id="{9FF15452-4E4A-4F05-ACE4-4FF1E975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0"/>
            <a:ext cx="1952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After an earlier solution, reuse late tree slots for empty roots at earlier times.</a:t>
            </a:r>
          </a:p>
          <a:p xmlns:a="http://schemas.openxmlformats.org/drawingml/2006/main">
            <a:pPr algn="l">
              <a:def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Retain the shared forward tree and earlier backward trees.</a:t>
            </a:r>
          </a:p>
        </p:txBody>
      </p:sp>
      <p:pic>
        <p:nvPic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F15071AB-3749-4390-A063-3A13218B50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9ed4e440f4268"/>
          <a:stretch xmlns:a="http://schemas.openxmlformats.org/drawingml/2006/main"/>
        </p:blipFill>
        <p:spPr>
          <a:xfrm xmlns:a="http://schemas.openxmlformats.org/drawingml/2006/main">
            <a:off x="666790" y="24269700"/>
            <a:ext cx="19526171" cy="5534978"/>
          </a:xfrm>
          <a:prstGeom xmlns:a="http://schemas.openxmlformats.org/drawingml/2006/main" prst="rect">
            <a:avLst/>
          </a:prstGeom>
        </p:spPr>
      </p:pic>
      <p:sp>
        <p:nvSpPr>
          <p:cNvPr id="405" name="Results metric definitions">
            <a:extLst xmlns:a="http://schemas.openxmlformats.org/drawingml/2006/main">
              <a:ext uri="{FF2B5EF4-FFF2-40B4-BE49-F238E27FC236}">
                <a16:creationId xmlns:a16="http://schemas.microsoft.com/office/drawing/2014/main" id="{5273A6C9-6B63-43A1-BCE8-28C39FDE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6305550"/>
            <a:ext cx="19526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Compute time: </a:t>
            </a:r>
            <a:r>
              <a:rPr sz="3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ST-pRRTC GPU kernels vs. baseline CPU planning calls.</a:t>
            </a:r>
          </a:p>
          <a:p xmlns:a="http://schemas.openxmlformats.org/drawingml/2006/main">
            <a:pPr algn="l">
              <a:defRPr sz="3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Final arrival: </a:t>
            </a:r>
            <a:r>
              <a:rPr sz="30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mean over cases solved by all four methods.</a:t>
            </a:r>
          </a:p>
        </p:txBody>
      </p:sp>
      <p:sp>
        <p:nvSpPr>
          <p:cNvPr id="406" name="Benchmark disc2d">
            <a:extLst xmlns:a="http://schemas.openxmlformats.org/drawingml/2006/main">
              <a:ext uri="{FF2B5EF4-FFF2-40B4-BE49-F238E27FC236}">
                <a16:creationId xmlns:a16="http://schemas.microsoft.com/office/drawing/2014/main" id="{D4958382-9ACA-45FE-8957-068AF392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73723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2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2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Disc2D (300 cases)</a:t>
            </a:r>
          </a:p>
        </p:txBody>
      </p:sp>
      <p:pic>
        <p:nvPic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1EE4C0E4-563C-4611-94B5-F26FC40AEE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344ebed184361"/>
          <a:stretch xmlns:a="http://schemas.openxmlformats.org/drawingml/2006/main"/>
        </p:blipFill>
        <p:spPr>
          <a:xfrm xmlns:a="http://schemas.openxmlformats.org/drawingml/2006/main">
            <a:off x="22907625" y="8001000"/>
            <a:ext cx="4000500" cy="4000500"/>
          </a:xfrm>
          <a:prstGeom xmlns:a="http://schemas.openxmlformats.org/drawingml/2006/main" prst="rect">
            <a:avLst/>
          </a:prstGeom>
        </p:spPr>
      </p:pic>
      <p:pic>
        <p:nvPic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8C1FA056-5E07-44D7-AC12-8D9F80E03C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129a9123341a1"/>
          <a:stretch xmlns:a="http://schemas.openxmlformats.org/drawingml/2006/main"/>
        </p:blipFill>
        <p:spPr>
          <a:xfrm xmlns:a="http://schemas.openxmlformats.org/drawingml/2006/main">
            <a:off x="21812259" y="12877800"/>
            <a:ext cx="6191232" cy="4162616"/>
          </a:xfrm>
          <a:prstGeom xmlns:a="http://schemas.openxmlformats.org/drawingml/2006/main" prst="rect">
            <a:avLst/>
          </a:prstGeom>
        </p:spPr>
      </p:pic>
      <p:pic>
        <p:nvPic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9E80D235-17FB-451C-AE46-6984FAB96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79596e5b44929"/>
          <a:stretch xmlns:a="http://schemas.openxmlformats.org/drawingml/2006/main"/>
        </p:blipFill>
        <p:spPr>
          <a:xfrm xmlns:a="http://schemas.openxmlformats.org/drawingml/2006/main">
            <a:off x="21812250" y="17164185"/>
            <a:ext cx="6191250" cy="3943080"/>
          </a:xfrm>
          <a:prstGeom xmlns:a="http://schemas.openxmlformats.org/drawingml/2006/main" prst="rect">
            <a:avLst/>
          </a:prstGeom>
        </p:spPr>
      </p:pic>
      <p:sp>
        <p:nvSpPr>
          <p:cNvPr id="410" name="Benchmark panda-spheres">
            <a:extLst xmlns:a="http://schemas.openxmlformats.org/drawingml/2006/main">
              <a:ext uri="{FF2B5EF4-FFF2-40B4-BE49-F238E27FC236}">
                <a16:creationId xmlns:a16="http://schemas.microsoft.com/office/drawing/2014/main" id="{93AEE6AC-891A-4A71-A4B7-45A9CA59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0" y="73723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2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2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Panda-spheres (300 cases)</a:t>
            </a:r>
          </a:p>
        </p:txBody>
      </p:sp>
      <p:pic>
        <p:nvPic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F939B393-5156-478E-8384-B7682D555D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7d86cd67341c4"/>
          <a:stretch xmlns:a="http://schemas.openxmlformats.org/drawingml/2006/main"/>
        </p:blipFill>
        <p:spPr>
          <a:xfrm xmlns:a="http://schemas.openxmlformats.org/drawingml/2006/main">
            <a:off x="29479875" y="8001000"/>
            <a:ext cx="4000500" cy="4000500"/>
          </a:xfrm>
          <a:prstGeom xmlns:a="http://schemas.openxmlformats.org/drawingml/2006/main" prst="rect">
            <a:avLst/>
          </a:prstGeom>
        </p:spPr>
      </p:pic>
      <p:pic>
        <p:nvPic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7DAA742F-2A61-49AF-B4EC-5CF777CFFD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f6e3baec7443a"/>
          <a:stretch xmlns:a="http://schemas.openxmlformats.org/drawingml/2006/main"/>
        </p:blipFill>
        <p:spPr>
          <a:xfrm xmlns:a="http://schemas.openxmlformats.org/drawingml/2006/main">
            <a:off x="28384509" y="12877800"/>
            <a:ext cx="6191232" cy="4162616"/>
          </a:xfrm>
          <a:prstGeom xmlns:a="http://schemas.openxmlformats.org/drawingml/2006/main" prst="rect">
            <a:avLst/>
          </a:prstGeom>
        </p:spPr>
      </p:pic>
      <p:pic>
        <p:nvPic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3D1AC504-624D-4192-BA9B-3C0494A75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c76a51a554131"/>
          <a:stretch xmlns:a="http://schemas.openxmlformats.org/drawingml/2006/main"/>
        </p:blipFill>
        <p:spPr>
          <a:xfrm xmlns:a="http://schemas.openxmlformats.org/drawingml/2006/main">
            <a:off x="28384500" y="17164185"/>
            <a:ext cx="6191250" cy="3943080"/>
          </a:xfrm>
          <a:prstGeom xmlns:a="http://schemas.openxmlformats.org/drawingml/2006/main" prst="rect">
            <a:avLst/>
          </a:prstGeom>
        </p:spPr>
      </p:pic>
      <p:sp>
        <p:nvSpPr>
          <p:cNvPr id="414" name="Benchmark tabletop-rearrangement">
            <a:extLst xmlns:a="http://schemas.openxmlformats.org/drawingml/2006/main">
              <a:ext uri="{FF2B5EF4-FFF2-40B4-BE49-F238E27FC236}">
                <a16:creationId xmlns:a16="http://schemas.microsoft.com/office/drawing/2014/main" id="{B9FB40A3-D223-4C81-96FA-81531A5B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0" y="73723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2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2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Tabletop (962 cases)</a:t>
            </a:r>
          </a:p>
        </p:txBody>
      </p:sp>
      <p:pic>
        <p:nvPic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F39A535C-791D-41D2-8375-75D44B46D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770908cc6427a"/>
          <a:stretch xmlns:a="http://schemas.openxmlformats.org/drawingml/2006/main"/>
        </p:blipFill>
        <p:spPr>
          <a:xfrm xmlns:a="http://schemas.openxmlformats.org/drawingml/2006/main">
            <a:off x="36052125" y="8001000"/>
            <a:ext cx="4000500" cy="4000500"/>
          </a:xfrm>
          <a:prstGeom xmlns:a="http://schemas.openxmlformats.org/drawingml/2006/main" prst="rect">
            <a:avLst/>
          </a:prstGeom>
        </p:spPr>
      </p:pic>
      <p:pic>
        <p:nvPic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E8171264-264F-4A91-A277-EA5F08DEF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abfca8bad4faf"/>
          <a:stretch xmlns:a="http://schemas.openxmlformats.org/drawingml/2006/main"/>
        </p:blipFill>
        <p:spPr>
          <a:xfrm xmlns:a="http://schemas.openxmlformats.org/drawingml/2006/main">
            <a:off x="34956759" y="12877800"/>
            <a:ext cx="6191232" cy="4162616"/>
          </a:xfrm>
          <a:prstGeom xmlns:a="http://schemas.openxmlformats.org/drawingml/2006/main" prst="rect">
            <a:avLst/>
          </a:prstGeom>
        </p:spPr>
      </p:pic>
      <p:pic>
        <p:nvPic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68333681-F80B-44E7-919B-5E2C0A224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cac6086b74f10"/>
          <a:stretch xmlns:a="http://schemas.openxmlformats.org/drawingml/2006/main"/>
        </p:blipFill>
        <p:spPr>
          <a:xfrm xmlns:a="http://schemas.openxmlformats.org/drawingml/2006/main">
            <a:off x="34956750" y="17164185"/>
            <a:ext cx="6191250" cy="3943080"/>
          </a:xfrm>
          <a:prstGeom xmlns:a="http://schemas.openxmlformats.org/drawingml/2006/main" prst="rect">
            <a:avLst/>
          </a:prstGeom>
        </p:spPr>
      </p:pic>
      <p:pic>
        <p:nvPic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91FFDE45-D205-4D52-9FBD-0A305C9C9D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d8b7f207c4555"/>
          <a:stretch xmlns:a="http://schemas.openxmlformats.org/drawingml/2006/main"/>
        </p:blipFill>
        <p:spPr>
          <a:xfrm xmlns:a="http://schemas.openxmlformats.org/drawingml/2006/main">
            <a:off x="21812250" y="12077721"/>
            <a:ext cx="19526250" cy="729953"/>
          </a:xfrm>
          <a:prstGeom xmlns:a="http://schemas.openxmlformats.org/drawingml/2006/main" prst="rect">
            <a:avLst/>
          </a:prstGeom>
        </p:spPr>
      </p:pic>
      <p:sp>
        <p:nvSpPr>
          <p:cNvPr id="419" name="Demo introduction">
            <a:extLst xmlns:a="http://schemas.openxmlformats.org/drawingml/2006/main">
              <a:ext uri="{FF2B5EF4-FFF2-40B4-BE49-F238E27FC236}">
                <a16:creationId xmlns:a16="http://schemas.microsoft.com/office/drawing/2014/main" id="{39D9C4BE-EE48-4243-9E37-FE5A990D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22574250"/>
            <a:ext cx="1952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5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 UR5e executes planned reaches among moving Crazyflie drones. Overlays show successive poses.</a:t>
            </a:r>
          </a:p>
        </p:txBody>
      </p:sp>
      <p:pic>
        <p:nvPic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456F36C4-CE6D-40C6-94D1-8081F44D0C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db80a1aef4e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793200" y="23241000"/>
            <a:ext cx="4762500" cy="4762500"/>
          </a:xfrm>
          <a:prstGeom xmlns:a="http://schemas.openxmlformats.org/drawingml/2006/main" prst="rect">
            <a:avLst/>
          </a:prstGeom>
        </p:spPr>
      </p:pic>
      <p:sp>
        <p:nvSpPr>
          <p:cNvPr id="421" name="Demo 1 condition">
            <a:extLst xmlns:a="http://schemas.openxmlformats.org/drawingml/2006/main">
              <a:ext uri="{FF2B5EF4-FFF2-40B4-BE49-F238E27FC236}">
                <a16:creationId xmlns:a16="http://schemas.microsoft.com/office/drawing/2014/main" id="{D7C2FE64-9C40-4F79-94EB-0983A0AA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0" y="281559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2 drones</a:t>
            </a:r>
          </a:p>
        </p:txBody>
      </p:sp>
      <p:sp>
        <p:nvSpPr>
          <p:cNvPr id="422" name="Demo 1 task">
            <a:extLst xmlns:a="http://schemas.openxmlformats.org/drawingml/2006/main">
              <a:ext uri="{FF2B5EF4-FFF2-40B4-BE49-F238E27FC236}">
                <a16:creationId xmlns:a16="http://schemas.microsoft.com/office/drawing/2014/main" id="{8FD055E0-43F4-44FD-97EE-61FAF6DF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0" y="28765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Top/center/bottom reaching</a:t>
            </a:r>
          </a:p>
        </p:txBody>
      </p:sp>
      <p:pic>
        <p:nvPic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5339E9D0-1368-493B-9E7A-AB968BEFA7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b84dfa36f4110"/>
          <a:srcRect xmlns:a="http://schemas.openxmlformats.org/drawingml/2006/main" l="8606" t="0" r="86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46200" y="23241000"/>
            <a:ext cx="4762500" cy="4762500"/>
          </a:xfrm>
          <a:prstGeom xmlns:a="http://schemas.openxmlformats.org/drawingml/2006/main" prst="rect">
            <a:avLst/>
          </a:prstGeom>
        </p:spPr>
      </p:pic>
      <p:sp>
        <p:nvSpPr>
          <p:cNvPr id="424" name="Demo 2 condition">
            <a:extLst xmlns:a="http://schemas.openxmlformats.org/drawingml/2006/main">
              <a:ext uri="{FF2B5EF4-FFF2-40B4-BE49-F238E27FC236}">
                <a16:creationId xmlns:a16="http://schemas.microsoft.com/office/drawing/2014/main" id="{FBB9BB43-78CA-4369-ABAF-3EDD15C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0" y="281559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3 drones, slow</a:t>
            </a:r>
          </a:p>
        </p:txBody>
      </p:sp>
      <p:sp>
        <p:nvSpPr>
          <p:cNvPr id="425" name="Demo 2 task">
            <a:extLst xmlns:a="http://schemas.openxmlformats.org/drawingml/2006/main">
              <a:ext uri="{FF2B5EF4-FFF2-40B4-BE49-F238E27FC236}">
                <a16:creationId xmlns:a16="http://schemas.microsoft.com/office/drawing/2014/main" id="{B8589A7E-4D7A-4483-8D34-088493A0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0" y="28765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Left/right reaching</a:t>
            </a:r>
          </a:p>
        </p:txBody>
      </p:sp>
      <p:pic>
        <p:nvPic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227F8A28-5974-43CB-B775-C8CDD32912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0121224034a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699200" y="23241000"/>
            <a:ext cx="4762500" cy="4762500"/>
          </a:xfrm>
          <a:prstGeom xmlns:a="http://schemas.openxmlformats.org/drawingml/2006/main" prst="rect">
            <a:avLst/>
          </a:prstGeom>
        </p:spPr>
      </p:pic>
      <p:sp>
        <p:nvSpPr>
          <p:cNvPr id="427" name="Demo 3 condition">
            <a:extLst xmlns:a="http://schemas.openxmlformats.org/drawingml/2006/main">
              <a:ext uri="{FF2B5EF4-FFF2-40B4-BE49-F238E27FC236}">
                <a16:creationId xmlns:a16="http://schemas.microsoft.com/office/drawing/2014/main" id="{117B6072-1936-4FB9-A312-EEF18FFD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0" y="281559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3 drones, fast</a:t>
            </a:r>
          </a:p>
        </p:txBody>
      </p:sp>
      <p:sp>
        <p:nvSpPr>
          <p:cNvPr id="428" name="Demo 3 task">
            <a:extLst xmlns:a="http://schemas.openxmlformats.org/drawingml/2006/main">
              <a:ext uri="{FF2B5EF4-FFF2-40B4-BE49-F238E27FC236}">
                <a16:creationId xmlns:a16="http://schemas.microsoft.com/office/drawing/2014/main" id="{3D534343-1D0B-44AE-9CD9-FF392E53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0" y="28765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Left/right reaching</a:t>
            </a:r>
          </a:p>
        </p:txBody>
      </p:sp>
      <p:pic>
        <p:nvPic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AF46325B-76C5-4BB5-8A06-5D22D7CCD1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8f305dbbb40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52200" y="23241000"/>
            <a:ext cx="4762500" cy="4762500"/>
          </a:xfrm>
          <a:prstGeom xmlns:a="http://schemas.openxmlformats.org/drawingml/2006/main" prst="rect">
            <a:avLst/>
          </a:prstGeom>
        </p:spPr>
      </p:pic>
      <p:sp>
        <p:nvSpPr>
          <p:cNvPr id="430" name="Demo 4 condition">
            <a:extLst xmlns:a="http://schemas.openxmlformats.org/drawingml/2006/main">
              <a:ext uri="{FF2B5EF4-FFF2-40B4-BE49-F238E27FC236}">
                <a16:creationId xmlns:a16="http://schemas.microsoft.com/office/drawing/2014/main" id="{5B82D676-87DB-4F57-A628-18B5BEB8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2200" y="281559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5 drones</a:t>
            </a:r>
          </a:p>
        </p:txBody>
      </p:sp>
      <p:sp>
        <p:nvSpPr>
          <p:cNvPr id="431" name="Demo 4 task">
            <a:extLst xmlns:a="http://schemas.openxmlformats.org/drawingml/2006/main">
              <a:ext uri="{FF2B5EF4-FFF2-40B4-BE49-F238E27FC236}">
                <a16:creationId xmlns:a16="http://schemas.microsoft.com/office/drawing/2014/main" id="{2C4B1735-E1B7-4491-87AB-22E7778A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2200" y="28765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Portal poking</a:t>
            </a:r>
          </a:p>
          <a:p xmlns:a="http://schemas.openxmlformats.org/drawingml/2006/main">
            <a:pPr algn="ctr">
              <a:def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Reaching through an opening</a:t>
            </a:r>
          </a:p>
        </p:txBody>
      </p:sp>
    </p:spTree>
    <p:extLst>
      <p:ext uri="{BB962C8B-B14F-4D97-AF65-F5344CB8AC3E}">
        <p14:creationId xmlns:p14="http://schemas.microsoft.com/office/powerpoint/2010/main" val="48118507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2026-10-22T04:12:30.1500000Z</dcterms:created>
  <dcterms:modified xsi:type="dcterms:W3CDTF">2026-10-22T04:12:30.1500000Z</dcterms:modified>
</coreProperties>
</file>